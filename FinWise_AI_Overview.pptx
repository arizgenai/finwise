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image" Target="../media/image-9-1.png"/><Relationship Id="rId6" Type="http://schemas.openxmlformats.org/officeDocument/2006/relationships/image" Target="../media/image-9-1.png"/><Relationship Id="rId7" Type="http://schemas.openxmlformats.org/officeDocument/2006/relationships/image" Target="../media/image-9-1.png"/><Relationship Id="rId8" Type="http://schemas.openxmlformats.org/officeDocument/2006/relationships/image" Target="../media/image-9-1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291840" cy="32918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FINWISE 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9875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Personal Financial Analysis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Smart Budget Assistant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LangChain + Streamlit FinTech Programming Assignment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5120640" cy="502920"/>
          </a:xfrm>
          <a:prstGeom prst="roundRect">
            <a:avLst>
              <a:gd name="adj" fmla="val 18182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8920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finwise-12323.streamlit.app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use only — not financial advice, no live bank connections, no guaranteed outcomes.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FinWise AI Does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numbers to a personalized financial narrative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42032" cy="4206240"/>
          </a:xfrm>
          <a:prstGeom prst="roundRect">
            <a:avLst>
              <a:gd name="adj" fmla="val 3237"/>
            </a:avLst>
          </a:prstGeom>
          <a:solidFill>
            <a:srgbClr val="E9F2F5"/>
          </a:solidFill>
          <a:ln/>
          <a:effectLst>
            <a:outerShdw sx="100000" sy="100000" kx="0" ky="0" algn="bl" rotWithShape="0" blurRad="76200" dist="25400" dir="5400000">
              <a:srgbClr val="8AA5AF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45336" y="19202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finwise_ppt/dol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7010" y="205191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65176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User Input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49808" y="3063240"/>
            <a:ext cx="2139696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income, 10 expense categories, current savings, and a financial goal.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072384" y="347472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346704" y="1600200"/>
            <a:ext cx="2542032" cy="4206240"/>
          </a:xfrm>
          <a:prstGeom prst="roundRect">
            <a:avLst>
              <a:gd name="adj" fmla="val 3237"/>
            </a:avLst>
          </a:prstGeom>
          <a:solidFill>
            <a:srgbClr val="E9F2F5"/>
          </a:solidFill>
          <a:ln/>
          <a:effectLst>
            <a:outerShdw sx="100000" sy="100000" kx="0" ky="0" algn="bl" rotWithShape="0" blurRad="76200" dist="25400" dir="5400000">
              <a:srgbClr val="8AA5AF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43400" y="19202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/home/claude/finwise_ppt/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5074" y="205191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11296" y="265176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Python Math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547872" y="3063240"/>
            <a:ext cx="2139696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ratios: savings ratio, expense ratio, remaining income, a heuristic score.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870448" y="347472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6144768" y="1600200"/>
            <a:ext cx="2542032" cy="4206240"/>
          </a:xfrm>
          <a:prstGeom prst="roundRect">
            <a:avLst>
              <a:gd name="adj" fmla="val 3237"/>
            </a:avLst>
          </a:prstGeom>
          <a:solidFill>
            <a:srgbClr val="E9F2F5"/>
          </a:solidFill>
          <a:ln/>
          <a:effectLst>
            <a:outerShdw sx="100000" sy="100000" kx="0" ky="0" algn="bl" rotWithShape="0" blurRad="76200" dist="25400" dir="5400000">
              <a:srgbClr val="8AA5AF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41464" y="19202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2" descr="/home/claude/finwise_ppt/cp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3138" y="2051914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09360" y="265176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LLM Reasoning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345936" y="3063240"/>
            <a:ext cx="2139696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hands the numbers to an LLM, which returns structured JSON insight.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8668512" y="347472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8942832" y="1600200"/>
            <a:ext cx="2542032" cy="4206240"/>
          </a:xfrm>
          <a:prstGeom prst="roundRect">
            <a:avLst>
              <a:gd name="adj" fmla="val 3237"/>
            </a:avLst>
          </a:prstGeom>
          <a:solidFill>
            <a:srgbClr val="E9F2F5"/>
          </a:solidFill>
          <a:ln/>
          <a:effectLst>
            <a:outerShdw sx="100000" sy="100000" kx="0" ky="0" algn="bl" rotWithShape="0" blurRad="76200" dist="25400" dir="5400000">
              <a:srgbClr val="8AA5AF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939528" y="19202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4" name="Image 3" descr="/home/claude/finwise_ppt/tre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1202" y="2051914"/>
            <a:ext cx="285293" cy="28529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07424" y="265176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Live Narrative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9144000" y="3063240"/>
            <a:ext cx="2139696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streamed, human-readable recommendation renders in the Streamlit dashboard.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FinWise AI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Structure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F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finwise_ai/ — a clean split between UI, logic, and AI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035040" cy="475488"/>
          </a:xfrm>
          <a:prstGeom prst="roundRect">
            <a:avLst>
              <a:gd name="adj" fmla="val 11538"/>
            </a:avLst>
          </a:prstGeom>
          <a:solidFill>
            <a:srgbClr val="065A82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00200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291840" y="1600200"/>
            <a:ext cx="3154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 — the entry point you run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167128"/>
            <a:ext cx="6035040" cy="475488"/>
          </a:xfrm>
          <a:prstGeom prst="roundRect">
            <a:avLst>
              <a:gd name="adj" fmla="val 11538"/>
            </a:avLst>
          </a:prstGeom>
          <a:solidFill>
            <a:srgbClr val="065A82">
              <a:alpha val="4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67128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src/config.py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291840" y="2167128"/>
            <a:ext cx="3154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and form options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734056"/>
            <a:ext cx="6035040" cy="475488"/>
          </a:xfrm>
          <a:prstGeom prst="roundRect">
            <a:avLst>
              <a:gd name="adj" fmla="val 11538"/>
            </a:avLst>
          </a:prstGeom>
          <a:solidFill>
            <a:srgbClr val="065A82">
              <a:alpha val="4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734056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src/prompts.py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291840" y="2734056"/>
            <a:ext cx="3154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PromptTemplate, ChatPromptTemplate, JSON schema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300984"/>
            <a:ext cx="6035040" cy="475488"/>
          </a:xfrm>
          <a:prstGeom prst="roundRect">
            <a:avLst>
              <a:gd name="adj" fmla="val 11538"/>
            </a:avLst>
          </a:prstGeom>
          <a:solidFill>
            <a:srgbClr val="065A82">
              <a:alpha val="4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300984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src/financial_calculator.py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1840" y="3300984"/>
            <a:ext cx="3154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maths — no AI involved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867912"/>
            <a:ext cx="6035040" cy="475488"/>
          </a:xfrm>
          <a:prstGeom prst="roundRect">
            <a:avLst>
              <a:gd name="adj" fmla="val 11538"/>
            </a:avLst>
          </a:prstGeom>
          <a:solidFill>
            <a:srgbClr val="065A82">
              <a:alpha val="4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867912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src/chains.py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291840" y="3867912"/>
            <a:ext cx="3154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ChatOpenAI, LLMChain, streaming logic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434840"/>
            <a:ext cx="6035040" cy="475488"/>
          </a:xfrm>
          <a:prstGeom prst="roundRect">
            <a:avLst>
              <a:gd name="adj" fmla="val 11538"/>
            </a:avLst>
          </a:prstGeom>
          <a:solidFill>
            <a:srgbClr val="065A82">
              <a:alpha val="4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434840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src/cache_manager.py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291840" y="4434840"/>
            <a:ext cx="3154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+ SQLite caching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5001768"/>
            <a:ext cx="6035040" cy="475488"/>
          </a:xfrm>
          <a:prstGeom prst="roundRect">
            <a:avLst>
              <a:gd name="adj" fmla="val 11538"/>
            </a:avLst>
          </a:prstGeom>
          <a:solidFill>
            <a:srgbClr val="065A82">
              <a:alpha val="4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001768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src/utils.py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291840" y="5001768"/>
            <a:ext cx="3154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JSON parsing and helper functions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949440" y="1600200"/>
            <a:ext cx="4663440" cy="4160520"/>
          </a:xfrm>
          <a:prstGeom prst="roundRect">
            <a:avLst>
              <a:gd name="adj" fmla="val 2198"/>
            </a:avLst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23760" y="18745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7" name="Image 0" descr="/home/claude/finwise_ppt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4461" y="1995221"/>
            <a:ext cx="261518" cy="261518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7863840" y="189280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note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7223760" y="2468880"/>
            <a:ext cx="41148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 pins LangChain to 0.2.x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assignment needs the classic LLMChain class, removed in LangChain 1.0+.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newer LangChain? Swap in src/chains.py: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 = PROMPT | llm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chain.invoke(inputs).content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F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FinWise AI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Layers, Deliberately Separated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computes. The LLM only interprets — it never recomputes or contradicts the numbers.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0" cy="4297680"/>
          </a:xfrm>
          <a:prstGeom prst="roundRect">
            <a:avLst>
              <a:gd name="adj" fmla="val 2128"/>
            </a:avLst>
          </a:prstGeom>
          <a:solidFill>
            <a:srgbClr val="E9F2F5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finwise_ppt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354" y="205191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4767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Calculations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554480" y="2377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financial_calculator.py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2971800"/>
            <a:ext cx="42976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4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Deterministic — same inputs, same outputs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4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Sums 10 expense categories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4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Remaining income, savings ratio, expense ratio, debt ratio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4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Rule-based preliminary score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Guards against zero-income errors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35040" y="1600200"/>
            <a:ext cx="5029200" cy="4297680"/>
          </a:xfrm>
          <a:prstGeom prst="roundRect">
            <a:avLst>
              <a:gd name="adj" fmla="val 2128"/>
            </a:avLst>
          </a:prstGeom>
          <a:solidFill>
            <a:srgbClr val="21295C"/>
          </a:solidFill>
          <a:ln/>
        </p:spPr>
      </p:sp>
      <p:sp>
        <p:nvSpPr>
          <p:cNvPr id="11" name="Shape 8"/>
          <p:cNvSpPr/>
          <p:nvPr/>
        </p:nvSpPr>
        <p:spPr>
          <a:xfrm>
            <a:off x="6355080" y="192024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2" name="Image 1" descr="/home/claude/finwise_ppt/cp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6754" y="205191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40880" y="194767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7040880" y="2377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6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prompts.py + chains.py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400800" y="2971800"/>
            <a:ext cx="42976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Turns numbers into a financial summary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Health score, risk level, priorities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Budget &amp; savings recommendations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Streamed narrative explanation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7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Not deterministic — phrasing can vary (schema is fixed)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FinWise AI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Predictable JSON Contract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always returns this shape — so the dashboard never guesses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943600" cy="4572000"/>
          </a:xfrm>
          <a:prstGeom prst="roundRect">
            <a:avLst>
              <a:gd name="adj" fmla="val 1600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53035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"financial_summary": "",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"financial_health_score": 0,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"spending_analysis": [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"category": "", "observation": "",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"recommendation": ""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"risk_level": "",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"top_priorities": [],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"budget_recommendations": [],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"savings_strategy": [],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"next_month_action_plan": []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766560" y="1554480"/>
            <a:ext cx="4846320" cy="4572000"/>
          </a:xfrm>
          <a:prstGeom prst="roundRect">
            <a:avLst>
              <a:gd name="adj" fmla="val 2000"/>
            </a:avLst>
          </a:prstGeom>
          <a:solidFill>
            <a:srgbClr val="E9F2F5"/>
          </a:solidFill>
          <a:ln/>
        </p:spPr>
      </p:sp>
      <p:sp>
        <p:nvSpPr>
          <p:cNvPr id="7" name="Shape 5"/>
          <p:cNvSpPr/>
          <p:nvPr/>
        </p:nvSpPr>
        <p:spPr>
          <a:xfrm>
            <a:off x="7040880" y="18288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0" descr="/home/claude/finwise_ppt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1581" y="1949501"/>
            <a:ext cx="261518" cy="26151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80960" y="18470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utils.py keeps it safe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086600" y="2514600"/>
            <a:ext cx="42062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334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Strips markdown code fences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334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the JSON object even if the model adds stray text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334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required keys are present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334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Clamps health score to a 0–100 range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an invalid risk level to "MEDIUM"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086600" y="534924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malformed response never crashes the dashboard.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FinWise AI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Caching: Skip the Repeat API Calls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LangChain's set_llm_cache() checks one global cache before every LLM call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4023360"/>
          </a:xfrm>
          <a:prstGeom prst="roundRect">
            <a:avLst>
              <a:gd name="adj" fmla="val 2273"/>
            </a:avLst>
          </a:prstGeom>
          <a:solidFill>
            <a:srgbClr val="E9F2F5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11680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finwise_ppt/z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964" y="2138964"/>
            <a:ext cx="275783" cy="2757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02996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Cache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2788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2697480" y="2788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68680" y="3392424"/>
            <a:ext cx="4480560" cy="0"/>
          </a:xfrm>
          <a:prstGeom prst="line">
            <a:avLst/>
          </a:prstGeom>
          <a:noFill/>
          <a:ln w="9525">
            <a:solidFill>
              <a:srgbClr val="C9DC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344728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2697480" y="344728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68680" y="4050792"/>
            <a:ext cx="4480560" cy="0"/>
          </a:xfrm>
          <a:prstGeom prst="line">
            <a:avLst/>
          </a:prstGeom>
          <a:noFill/>
          <a:ln w="9525">
            <a:solidFill>
              <a:srgbClr val="C9DC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4105656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restart?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2697480" y="4105656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68680" y="4709160"/>
            <a:ext cx="4480560" cy="0"/>
          </a:xfrm>
          <a:prstGeom prst="line">
            <a:avLst/>
          </a:prstGeom>
          <a:noFill/>
          <a:ln w="9525">
            <a:solidFill>
              <a:srgbClr val="C9DC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476402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2697480" y="4764024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session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126480" y="1691640"/>
            <a:ext cx="5120640" cy="4023360"/>
          </a:xfrm>
          <a:prstGeom prst="roundRect">
            <a:avLst>
              <a:gd name="adj" fmla="val 2273"/>
            </a:avLst>
          </a:prstGeom>
          <a:solidFill>
            <a:srgbClr val="21295C"/>
          </a:solidFill>
          <a:ln/>
        </p:spPr>
      </p:sp>
      <p:sp>
        <p:nvSpPr>
          <p:cNvPr id="20" name="Shape 17"/>
          <p:cNvSpPr/>
          <p:nvPr/>
        </p:nvSpPr>
        <p:spPr>
          <a:xfrm>
            <a:off x="6446520" y="2011680"/>
            <a:ext cx="530352" cy="53035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1" name="Image 1" descr="/home/claude/finwise_ppt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804" y="2138964"/>
            <a:ext cx="275783" cy="275783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132320" y="202996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Cache</a:t>
            </a:r>
            <a:endParaRPr lang="en-US" sz="1700" dirty="0"/>
          </a:p>
        </p:txBody>
      </p:sp>
      <p:sp>
        <p:nvSpPr>
          <p:cNvPr id="23" name="Text 19"/>
          <p:cNvSpPr/>
          <p:nvPr/>
        </p:nvSpPr>
        <p:spPr>
          <a:xfrm>
            <a:off x="6492240" y="2788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8275320" y="2788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.finwise_cache.db file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6446520" y="3392424"/>
            <a:ext cx="4480560" cy="0"/>
          </a:xfrm>
          <a:prstGeom prst="line">
            <a:avLst/>
          </a:prstGeom>
          <a:noFill/>
          <a:ln w="9525">
            <a:solidFill>
              <a:srgbClr val="3D5A6C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492240" y="344728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8275320" y="344728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slightly slower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6446520" y="4050792"/>
            <a:ext cx="4480560" cy="0"/>
          </a:xfrm>
          <a:prstGeom prst="line">
            <a:avLst/>
          </a:prstGeom>
          <a:noFill/>
          <a:ln w="9525">
            <a:solidFill>
              <a:srgbClr val="3D5A6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492240" y="4105656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restart?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8275320" y="4105656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31" name="Shape 27"/>
          <p:cNvSpPr/>
          <p:nvPr/>
        </p:nvSpPr>
        <p:spPr>
          <a:xfrm>
            <a:off x="6446520" y="4709160"/>
            <a:ext cx="4480560" cy="0"/>
          </a:xfrm>
          <a:prstGeom prst="line">
            <a:avLst/>
          </a:prstGeom>
          <a:noFill/>
          <a:ln w="9525">
            <a:solidFill>
              <a:srgbClr val="3D5A6C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492240" y="476402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250" dirty="0"/>
          </a:p>
        </p:txBody>
      </p:sp>
      <p:sp>
        <p:nvSpPr>
          <p:cNvPr id="33" name="Text 29"/>
          <p:cNvSpPr/>
          <p:nvPr/>
        </p:nvSpPr>
        <p:spPr>
          <a:xfrm>
            <a:off x="8275320" y="4764024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Reusing across sessions</a:t>
            </a:r>
            <a:endParaRPr lang="en-US" sz="1250" dirty="0"/>
          </a:p>
        </p:txBody>
      </p:sp>
      <p:sp>
        <p:nvSpPr>
          <p:cNvPr id="34" name="Text 30"/>
          <p:cNvSpPr/>
          <p:nvPr/>
        </p:nvSpPr>
        <p:spPr>
          <a:xfrm>
            <a:off x="548640" y="5943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modes (or turn caching off) from the sidebar's Caching section. clear_sqlite_cache() removes the on-disk file.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FinWise AI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4206240"/>
            <a:ext cx="4206240" cy="420624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4" name="Image 0" descr="/home/claude/finwise_ppt/z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656539"/>
            <a:ext cx="332842" cy="3328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5029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Live, Streamed Narration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narrative recommendation is generated with </a:t>
            </a:r>
            <a:pPr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llm.stream()</a:t>
            </a:r>
            <a:pPr indent="0" marL="0">
              <a:buNone/>
            </a:pPr>
            <a:r>
              <a:rPr lang="en-US" sz="1600" dirty="0">
                <a:solidFill>
                  <a:srgbClr val="E9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inside </a:t>
            </a:r>
            <a:pPr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chains.py :: stream_recommendations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251460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7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Displayed live in the UI with </a:t>
            </a:r>
            <a:pPr indent="0" marL="0">
              <a:buNone/>
            </a:pPr>
            <a:r>
              <a:rPr lang="en-US" sz="14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st.write_stream(...)</a:t>
            </a:r>
            <a:pPr indent="0" marL="0">
              <a:buNone/>
            </a:pPr>
            <a:r>
              <a:rPr lang="en-US" sz="1450" dirty="0">
                <a:solidFill>
                  <a:srgbClr val="C7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giving a natural, typing-style effect as the analysis appears.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48640" y="3657600"/>
            <a:ext cx="7589520" cy="2331720"/>
          </a:xfrm>
          <a:prstGeom prst="roundRect">
            <a:avLst>
              <a:gd name="adj" fmla="val 3922"/>
            </a:avLst>
          </a:prstGeom>
          <a:solidFill>
            <a:srgbClr val="1A224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3858768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Shape 7"/>
          <p:cNvSpPr/>
          <p:nvPr/>
        </p:nvSpPr>
        <p:spPr>
          <a:xfrm>
            <a:off x="987552" y="3858768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1" name="Shape 8"/>
          <p:cNvSpPr/>
          <p:nvPr/>
        </p:nvSpPr>
        <p:spPr>
          <a:xfrm>
            <a:off x="1197864" y="385876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4206240"/>
            <a:ext cx="70408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D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your numbers, you're saving 28% of income — well above the 20% target. Your biggest opportunity is trimming discretionary spending, currently 3x your goal category...▌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F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FinWise AI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Testing Scenarios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each through the form in app.py and confirm the dashboard matches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8640" cy="4572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087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097280" y="1508760"/>
            <a:ext cx="2743200" cy="4572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5087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840480" y="1508760"/>
            <a:ext cx="3749040" cy="4572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9" name="Text 7"/>
          <p:cNvSpPr/>
          <p:nvPr/>
        </p:nvSpPr>
        <p:spPr>
          <a:xfrm>
            <a:off x="393192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Calculation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589520" y="1508760"/>
            <a:ext cx="4023360" cy="4572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0" y="15087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AI Response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1965960"/>
            <a:ext cx="548640" cy="749808"/>
          </a:xfrm>
          <a:prstGeom prst="rect">
            <a:avLst/>
          </a:prstGeom>
          <a:solidFill>
            <a:srgbClr val="E9F2F5"/>
          </a:solidFill>
          <a:ln w="9525">
            <a:solidFill>
              <a:srgbClr val="D7E3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1965960"/>
            <a:ext cx="3291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97280" y="1965960"/>
            <a:ext cx="2743200" cy="749808"/>
          </a:xfrm>
          <a:prstGeom prst="rect">
            <a:avLst/>
          </a:prstGeom>
          <a:solidFill>
            <a:srgbClr val="E9F2F5"/>
          </a:solidFill>
          <a:ln w="9525">
            <a:solidFill>
              <a:srgbClr val="D7E3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07008" y="1965960"/>
            <a:ext cx="252374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8000, expenses ~2000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840480" y="1965960"/>
            <a:ext cx="3749040" cy="749808"/>
          </a:xfrm>
          <a:prstGeom prst="rect">
            <a:avLst/>
          </a:prstGeom>
          <a:solidFill>
            <a:srgbClr val="E9F2F5"/>
          </a:solidFill>
          <a:ln w="9525">
            <a:solidFill>
              <a:srgbClr val="D7E3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50208" y="1965960"/>
            <a:ext cx="35295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positive remaining; high savings ratio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589520" y="1965960"/>
            <a:ext cx="4023360" cy="749808"/>
          </a:xfrm>
          <a:prstGeom prst="rect">
            <a:avLst/>
          </a:prstGeom>
          <a:solidFill>
            <a:srgbClr val="E9F2F5"/>
          </a:solidFill>
          <a:ln w="9525">
            <a:solidFill>
              <a:srgbClr val="D7E3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99248" y="1965960"/>
            <a:ext cx="380390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score; LOW risk; growth-focused tips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2715768"/>
            <a:ext cx="5486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7E3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2715768"/>
            <a:ext cx="3291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097280" y="2715768"/>
            <a:ext cx="27432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7E3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07008" y="2715768"/>
            <a:ext cx="252374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2000, expenses ~2600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840480" y="2715768"/>
            <a:ext cx="37490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7E3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50208" y="2715768"/>
            <a:ext cx="35295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remaining; expense ratio &gt;100%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589520" y="2715768"/>
            <a:ext cx="40233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7E3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99248" y="2715768"/>
            <a:ext cx="380390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score; HIGH risk; urgent cost-cutting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3465576"/>
            <a:ext cx="548640" cy="749808"/>
          </a:xfrm>
          <a:prstGeom prst="rect">
            <a:avLst/>
          </a:prstGeom>
          <a:solidFill>
            <a:srgbClr val="E9F2F5"/>
          </a:solidFill>
          <a:ln w="9525">
            <a:solidFill>
              <a:srgbClr val="D7E3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3465576"/>
            <a:ext cx="3291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097280" y="3465576"/>
            <a:ext cx="2743200" cy="749808"/>
          </a:xfrm>
          <a:prstGeom prst="rect">
            <a:avLst/>
          </a:prstGeom>
          <a:solidFill>
            <a:srgbClr val="E9F2F5"/>
          </a:solidFill>
          <a:ln w="9525">
            <a:solidFill>
              <a:srgbClr val="D7E3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3465576"/>
            <a:ext cx="252374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5000, debt 2500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840480" y="3465576"/>
            <a:ext cx="3749040" cy="749808"/>
          </a:xfrm>
          <a:prstGeom prst="rect">
            <a:avLst/>
          </a:prstGeom>
          <a:solidFill>
            <a:srgbClr val="E9F2F5"/>
          </a:solidFill>
          <a:ln w="9525">
            <a:solidFill>
              <a:srgbClr val="D7E3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50208" y="3465576"/>
            <a:ext cx="35295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debt share of income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589520" y="3465576"/>
            <a:ext cx="4023360" cy="749808"/>
          </a:xfrm>
          <a:prstGeom prst="rect">
            <a:avLst/>
          </a:prstGeom>
          <a:solidFill>
            <a:srgbClr val="E9F2F5"/>
          </a:solidFill>
          <a:ln w="9525">
            <a:solidFill>
              <a:srgbClr val="D7E3E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99248" y="3465576"/>
            <a:ext cx="380390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MEDIUM/HIGH risk; debt-reduction priorities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48640" y="4215384"/>
            <a:ext cx="5486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7E3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4215384"/>
            <a:ext cx="3291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1097280" y="4215384"/>
            <a:ext cx="27432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7E3E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207008" y="4215384"/>
            <a:ext cx="252374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4000, savings 1200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3840480" y="4215384"/>
            <a:ext cx="37490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7E3E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50208" y="4215384"/>
            <a:ext cx="35295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ratio ~30%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589520" y="4215384"/>
            <a:ext cx="40233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7E3E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99248" y="4215384"/>
            <a:ext cx="380390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score; LOW risk; reinforce good habits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48640" y="4965192"/>
            <a:ext cx="548640" cy="749808"/>
          </a:xfrm>
          <a:prstGeom prst="rect">
            <a:avLst/>
          </a:prstGeom>
          <a:solidFill>
            <a:srgbClr val="E9F2F5"/>
          </a:solidFill>
          <a:ln w="9525">
            <a:solidFill>
              <a:srgbClr val="D7E3E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" y="4965192"/>
            <a:ext cx="3291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1097280" y="4965192"/>
            <a:ext cx="2743200" cy="749808"/>
          </a:xfrm>
          <a:prstGeom prst="rect">
            <a:avLst/>
          </a:prstGeom>
          <a:solidFill>
            <a:srgbClr val="E9F2F5"/>
          </a:solidFill>
          <a:ln w="9525">
            <a:solidFill>
              <a:srgbClr val="D7E3E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207008" y="4965192"/>
            <a:ext cx="252374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3000, expenses 3000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3840480" y="4965192"/>
            <a:ext cx="3749040" cy="749808"/>
          </a:xfrm>
          <a:prstGeom prst="rect">
            <a:avLst/>
          </a:prstGeom>
          <a:solidFill>
            <a:srgbClr val="E9F2F5"/>
          </a:solidFill>
          <a:ln w="9525">
            <a:solidFill>
              <a:srgbClr val="D7E3E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50208" y="4965192"/>
            <a:ext cx="35295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= 0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7589520" y="4965192"/>
            <a:ext cx="4023360" cy="749808"/>
          </a:xfrm>
          <a:prstGeom prst="rect">
            <a:avLst/>
          </a:prstGeom>
          <a:solidFill>
            <a:srgbClr val="E9F2F5"/>
          </a:solidFill>
          <a:ln w="9525">
            <a:solidFill>
              <a:srgbClr val="D7E3E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99248" y="4965192"/>
            <a:ext cx="380390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7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MEDIUM/HIGH risk; find room to save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FinWise AI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9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Bonus Ideas (Not Implemented Yet)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next steps to extend FinWise AI beyond the assignment scope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AA5AF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059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finwise_ppt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91566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0020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expense-history upload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26480" y="160020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AA5AF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327648" y="18059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1" descr="/home/claude/finwise_ppt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376" y="191566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49440" y="160020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charts &amp; visual breakdowns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2670048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AA5AF">
                <a:alpha val="2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49808" y="287578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4" name="Image 2" descr="/home/claude/finwise_ppt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2985516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2670048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comparison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126480" y="2670048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AA5AF">
                <a:alpha val="2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327648" y="287578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3" descr="/home/claude/finwise_ppt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76" y="2985516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2670048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 export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548640" y="3739896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AA5AF">
                <a:alpha val="2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49808" y="394563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2" name="Image 4" descr="/home/claude/finwise_ppt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4055364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71600" y="3739896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tracker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6126480" y="3739896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AA5AF">
                <a:alpha val="20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6327648" y="394563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5" descr="/home/claude/finwise_ppt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7376" y="4055364"/>
            <a:ext cx="237744" cy="23774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949440" y="3739896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</a:t>
            </a:r>
            <a:endParaRPr lang="en-US" sz="1350" dirty="0"/>
          </a:p>
        </p:txBody>
      </p:sp>
      <p:sp>
        <p:nvSpPr>
          <p:cNvPr id="28" name="Shape 20"/>
          <p:cNvSpPr/>
          <p:nvPr/>
        </p:nvSpPr>
        <p:spPr>
          <a:xfrm>
            <a:off x="548640" y="4809744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AA5AF">
                <a:alpha val="20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749808" y="501548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0" name="Image 6" descr="/home/claude/finwise_ppt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536" y="5125212"/>
            <a:ext cx="237744" cy="23774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371600" y="4809744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/ light mode toggle</a:t>
            </a:r>
            <a:endParaRPr lang="en-US" sz="1350" dirty="0"/>
          </a:p>
        </p:txBody>
      </p:sp>
      <p:sp>
        <p:nvSpPr>
          <p:cNvPr id="32" name="Shape 23"/>
          <p:cNvSpPr/>
          <p:nvPr/>
        </p:nvSpPr>
        <p:spPr>
          <a:xfrm>
            <a:off x="6126480" y="4809744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AA5AF">
                <a:alpha val="20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6327648" y="501548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4" name="Image 7" descr="/home/claude/finwise_ppt/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7376" y="5125212"/>
            <a:ext cx="237744" cy="237744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6949440" y="4809744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deployment</a:t>
            </a:r>
            <a:endParaRPr lang="en-US" sz="1350" dirty="0"/>
          </a:p>
        </p:txBody>
      </p:sp>
      <p:sp>
        <p:nvSpPr>
          <p:cNvPr id="36" name="Text 26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FinWise AI</a:t>
            </a:r>
            <a:endParaRPr lang="en-US" sz="1000" dirty="0"/>
          </a:p>
        </p:txBody>
      </p:sp>
      <p:sp>
        <p:nvSpPr>
          <p:cNvPr id="37" name="Text 27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572000"/>
            <a:ext cx="3657600" cy="36576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49240" y="137160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/home/claude/finwise_ppt/p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6750" y="156911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4688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FinWise AI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22960" y="3246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finwise-12323.streamlit.app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737360" y="39319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7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math you can trust. AI narration that makes it human.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80160" y="60350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FA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Educational prototype only — not financial advice. Consult a qualified professional for real decisions.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2026-08-31T05:08:32Z</dcterms:created>
  <dcterms:modified xsi:type="dcterms:W3CDTF">2026-08-31T05:08:32Z</dcterms:modified>
</cp:coreProperties>
</file>